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Montserrat"/>
      <p:regular r:id="rId17"/>
    </p:embeddedFont>
    <p:embeddedFont>
      <p:font typeface="Montserrat"/>
      <p:regular r:id="rId18"/>
    </p:embeddedFont>
    <p:embeddedFont>
      <p:font typeface="Montserrat"/>
      <p:regular r:id="rId19"/>
    </p:embeddedFont>
    <p:embeddedFont>
      <p:font typeface="Montserrat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slideLayout" Target="../slideLayouts/slideLayout5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image" Target="../media/image-9-10.png"/><Relationship Id="rId11" Type="http://schemas.openxmlformats.org/officeDocument/2006/relationships/image" Target="../media/image-9-11.svg"/><Relationship Id="rId12" Type="http://schemas.openxmlformats.org/officeDocument/2006/relationships/slideLayout" Target="../slideLayouts/slideLayout10.xml"/><Relationship Id="rId1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78273"/>
            <a:ext cx="7556421" cy="2543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ExplainX – Universal Multimodal Content Explainer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793790" y="5261610"/>
            <a:ext cx="7556421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Retrieval-Augmented AI System for Web, Video &amp; Media Understanding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60507" y="987266"/>
            <a:ext cx="6918008" cy="506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Problem: The Multimodal Content Gap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5960507" y="1696641"/>
            <a:ext cx="8195786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Information is pervasive, spanning various digital formats, yet current AI tools fall short in comprehensive understanding.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960507" y="2228255"/>
            <a:ext cx="8195786" cy="999649"/>
          </a:xfrm>
          <a:prstGeom prst="roundRect">
            <a:avLst>
              <a:gd name="adj" fmla="val 7318"/>
            </a:avLst>
          </a:prstGeom>
          <a:solidFill>
            <a:srgbClr val="FFFFF4">
              <a:alpha val="9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960507" y="2213015"/>
            <a:ext cx="8195786" cy="60960"/>
          </a:xfrm>
          <a:prstGeom prst="roundRect">
            <a:avLst>
              <a:gd name="adj" fmla="val 93342"/>
            </a:avLst>
          </a:prstGeom>
          <a:solidFill>
            <a:srgbClr val="FF954F"/>
          </a:solidFill>
          <a:ln/>
        </p:spPr>
      </p:sp>
      <p:sp>
        <p:nvSpPr>
          <p:cNvPr id="7" name="Shape 4"/>
          <p:cNvSpPr/>
          <p:nvPr/>
        </p:nvSpPr>
        <p:spPr>
          <a:xfrm>
            <a:off x="9855220" y="2025134"/>
            <a:ext cx="406360" cy="406360"/>
          </a:xfrm>
          <a:prstGeom prst="roundRect">
            <a:avLst>
              <a:gd name="adj" fmla="val 225022"/>
            </a:avLst>
          </a:prstGeom>
          <a:solidFill>
            <a:srgbClr val="FF954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77140" y="2147054"/>
            <a:ext cx="162520" cy="162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11121" y="2566868"/>
            <a:ext cx="2159556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Fragmented Information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111121" y="2901196"/>
            <a:ext cx="7894558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Critical insights are scattered across videos, websites, images, PDFs, and audio.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960507" y="3566398"/>
            <a:ext cx="8195786" cy="999649"/>
          </a:xfrm>
          <a:prstGeom prst="roundRect">
            <a:avLst>
              <a:gd name="adj" fmla="val 7318"/>
            </a:avLst>
          </a:prstGeom>
          <a:solidFill>
            <a:srgbClr val="FFFFF4">
              <a:alpha val="95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5960507" y="3551158"/>
            <a:ext cx="8195786" cy="60960"/>
          </a:xfrm>
          <a:prstGeom prst="roundRect">
            <a:avLst>
              <a:gd name="adj" fmla="val 93342"/>
            </a:avLst>
          </a:prstGeom>
          <a:solidFill>
            <a:srgbClr val="FF954F"/>
          </a:solidFill>
          <a:ln/>
        </p:spPr>
      </p:sp>
      <p:sp>
        <p:nvSpPr>
          <p:cNvPr id="13" name="Shape 9"/>
          <p:cNvSpPr/>
          <p:nvPr/>
        </p:nvSpPr>
        <p:spPr>
          <a:xfrm>
            <a:off x="9855220" y="3363278"/>
            <a:ext cx="406360" cy="406360"/>
          </a:xfrm>
          <a:prstGeom prst="roundRect">
            <a:avLst>
              <a:gd name="adj" fmla="val 225022"/>
            </a:avLst>
          </a:prstGeom>
          <a:solidFill>
            <a:srgbClr val="FF954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77140" y="3485198"/>
            <a:ext cx="162520" cy="1625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11121" y="3905012"/>
            <a:ext cx="2112169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Text-Centric Limitations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111121" y="4239339"/>
            <a:ext cx="7894558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Existing explainers, like Google NotebookLM, are predominantly text-based, ignoring rich visual context.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960507" y="4904542"/>
            <a:ext cx="8195786" cy="999649"/>
          </a:xfrm>
          <a:prstGeom prst="roundRect">
            <a:avLst>
              <a:gd name="adj" fmla="val 7318"/>
            </a:avLst>
          </a:prstGeom>
          <a:solidFill>
            <a:srgbClr val="FFFFF4">
              <a:alpha val="95000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5960507" y="4889302"/>
            <a:ext cx="8195786" cy="60960"/>
          </a:xfrm>
          <a:prstGeom prst="roundRect">
            <a:avLst>
              <a:gd name="adj" fmla="val 93342"/>
            </a:avLst>
          </a:prstGeom>
          <a:solidFill>
            <a:srgbClr val="FF954F"/>
          </a:solidFill>
          <a:ln/>
        </p:spPr>
      </p:sp>
      <p:sp>
        <p:nvSpPr>
          <p:cNvPr id="19" name="Shape 14"/>
          <p:cNvSpPr/>
          <p:nvPr/>
        </p:nvSpPr>
        <p:spPr>
          <a:xfrm>
            <a:off x="9855220" y="4701421"/>
            <a:ext cx="406360" cy="406360"/>
          </a:xfrm>
          <a:prstGeom prst="roundRect">
            <a:avLst>
              <a:gd name="adj" fmla="val 225022"/>
            </a:avLst>
          </a:prstGeom>
          <a:solidFill>
            <a:srgbClr val="FF954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77140" y="4823341"/>
            <a:ext cx="162520" cy="1625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111121" y="5243155"/>
            <a:ext cx="1957507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Shallow Video Analysis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6111121" y="5577483"/>
            <a:ext cx="7894558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Video understanding is often limited to mere transcripts, lacking deep visual or frame-level reasoning.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960507" y="6242685"/>
            <a:ext cx="8195786" cy="999649"/>
          </a:xfrm>
          <a:prstGeom prst="roundRect">
            <a:avLst>
              <a:gd name="adj" fmla="val 7318"/>
            </a:avLst>
          </a:prstGeom>
          <a:solidFill>
            <a:srgbClr val="FFFFF4">
              <a:alpha val="95000"/>
            </a:srgbClr>
          </a:solidFill>
          <a:ln/>
        </p:spPr>
      </p:sp>
      <p:sp>
        <p:nvSpPr>
          <p:cNvPr id="24" name="Shape 18"/>
          <p:cNvSpPr/>
          <p:nvPr/>
        </p:nvSpPr>
        <p:spPr>
          <a:xfrm>
            <a:off x="5960507" y="6227445"/>
            <a:ext cx="8195786" cy="60960"/>
          </a:xfrm>
          <a:prstGeom prst="roundRect">
            <a:avLst>
              <a:gd name="adj" fmla="val 93342"/>
            </a:avLst>
          </a:prstGeom>
          <a:solidFill>
            <a:srgbClr val="FF954F"/>
          </a:solidFill>
          <a:ln/>
        </p:spPr>
      </p:sp>
      <p:sp>
        <p:nvSpPr>
          <p:cNvPr id="25" name="Shape 19"/>
          <p:cNvSpPr/>
          <p:nvPr/>
        </p:nvSpPr>
        <p:spPr>
          <a:xfrm>
            <a:off x="9855220" y="6039564"/>
            <a:ext cx="406360" cy="406360"/>
          </a:xfrm>
          <a:prstGeom prst="roundRect">
            <a:avLst>
              <a:gd name="adj" fmla="val 225022"/>
            </a:avLst>
          </a:prstGeom>
          <a:solidFill>
            <a:srgbClr val="FF954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77140" y="6161484"/>
            <a:ext cx="162520" cy="1625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111121" y="6581299"/>
            <a:ext cx="1947386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No Unified Retrieval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6111121" y="6915626"/>
            <a:ext cx="7894558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significant gap exists in unified multimodal retrieval, preventing holistic content comprehension.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2925" y="426601"/>
            <a:ext cx="10942677" cy="57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5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Introducing ExplainX: True Multimodal Understanding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542925" y="1316831"/>
            <a:ext cx="13544550" cy="201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ExplainX is a next-generation universal content explainer, designed to bridge the multimodal gap.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2925" y="1848088"/>
            <a:ext cx="2613184" cy="289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7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Holistic Content Ingestion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42925" y="2293025"/>
            <a:ext cx="6583085" cy="201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ExplainX accepts any web link, transcending text-only limitations to understand: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925" y="2634139"/>
            <a:ext cx="6583085" cy="201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 content from articles and documents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2925" y="2890004"/>
            <a:ext cx="6583085" cy="201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Speech from audio and video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2925" y="3145869"/>
            <a:ext cx="6583085" cy="201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Images and embedded visuals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2925" y="3401735"/>
            <a:ext cx="6583085" cy="201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Full-motion video streams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2925" y="3758446"/>
            <a:ext cx="2319099" cy="289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7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Knowledge Integration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542925" y="4203383"/>
            <a:ext cx="6583085" cy="403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extracted knowledge is systematically stored and organized within a powerful vector database.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2925" y="4761667"/>
            <a:ext cx="2230279" cy="289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7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Intelligent Q&amp;A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542925" y="5206603"/>
            <a:ext cx="6583085" cy="403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Leveraging a sophisticated Retrieval-Augmented Generation (RAG) pipeline, ExplainX provides accurate, context-rich answers to user queries.</a:t>
            </a:r>
            <a:endParaRPr lang="en-US" sz="12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2010" y="1867495"/>
            <a:ext cx="6583085" cy="65830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3767" y="597932"/>
            <a:ext cx="6289119" cy="655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39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Key Capabilities of ExplainX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613767" y="1604010"/>
            <a:ext cx="1340286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ExplainX offers a suite of advanced features for comprehensive content analysis.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3767" y="2029063"/>
            <a:ext cx="526018" cy="5260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3767" y="2774275"/>
            <a:ext cx="2955608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9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Universal Link Acceptance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613767" y="3207068"/>
            <a:ext cx="4321493" cy="455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 content from any link: websites, videos, PDFs, or standalone images.</a:t>
            </a:r>
            <a:endParaRPr lang="en-US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54454" y="2029063"/>
            <a:ext cx="526018" cy="5260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54454" y="2774275"/>
            <a:ext cx="2583537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9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Deep Website Reading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5154454" y="3207068"/>
            <a:ext cx="4321493" cy="455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Understands text, images, and embedded video content within webpages.</a:t>
            </a:r>
            <a:endParaRPr lang="en-US" sz="13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95140" y="2029063"/>
            <a:ext cx="526018" cy="5260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95140" y="2774275"/>
            <a:ext cx="2816781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9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Advanced Video Analysis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9695140" y="3207068"/>
            <a:ext cx="4321493" cy="455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Analyzes video content using both audio transcripts and visual frames.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3767" y="4013478"/>
            <a:ext cx="526018" cy="5260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3767" y="4758690"/>
            <a:ext cx="2520791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9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Integrated OCR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613767" y="5191482"/>
            <a:ext cx="4321493" cy="455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Extracts text from images and individual video frames, capturing on-screen information.</a:t>
            </a:r>
            <a:endParaRPr lang="en-US" sz="13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54454" y="4013478"/>
            <a:ext cx="526018" cy="52601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154454" y="4758690"/>
            <a:ext cx="2727603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9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YOLO Object Detection</a:t>
            </a:r>
            <a:endParaRPr lang="en-US" sz="1950" dirty="0"/>
          </a:p>
        </p:txBody>
      </p:sp>
      <p:sp>
        <p:nvSpPr>
          <p:cNvPr id="18" name="Text 11"/>
          <p:cNvSpPr/>
          <p:nvPr/>
        </p:nvSpPr>
        <p:spPr>
          <a:xfrm>
            <a:off x="5154454" y="5191482"/>
            <a:ext cx="4321493" cy="455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Utilizes YOLO for precise object and scene detection within visual media.</a:t>
            </a:r>
            <a:endParaRPr lang="en-US" sz="13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95140" y="4013478"/>
            <a:ext cx="526018" cy="52601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695140" y="4758690"/>
            <a:ext cx="2701171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9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Semantic Vector Search</a:t>
            </a:r>
            <a:endParaRPr lang="en-US" sz="1950" dirty="0"/>
          </a:p>
        </p:txBody>
      </p:sp>
      <p:sp>
        <p:nvSpPr>
          <p:cNvPr id="21" name="Text 13"/>
          <p:cNvSpPr/>
          <p:nvPr/>
        </p:nvSpPr>
        <p:spPr>
          <a:xfrm>
            <a:off x="9695140" y="5191482"/>
            <a:ext cx="4321493" cy="455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Enables intelligent search through content using vector embeddings for relevance.</a:t>
            </a:r>
            <a:endParaRPr lang="en-US" sz="13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3767" y="5997893"/>
            <a:ext cx="526018" cy="52601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13767" y="6743105"/>
            <a:ext cx="3033117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9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Source-Grounded Answers</a:t>
            </a:r>
            <a:endParaRPr lang="en-US" sz="1950" dirty="0"/>
          </a:p>
        </p:txBody>
      </p:sp>
      <p:sp>
        <p:nvSpPr>
          <p:cNvPr id="24" name="Text 15"/>
          <p:cNvSpPr/>
          <p:nvPr/>
        </p:nvSpPr>
        <p:spPr>
          <a:xfrm>
            <a:off x="613767" y="7175897"/>
            <a:ext cx="4321493" cy="455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Provides highly accurate responses, firmly grounded in the original source material.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162" y="418981"/>
            <a:ext cx="8812173" cy="569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4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Unique Innovation: Intelligent Frame Scoring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3162" y="1293019"/>
            <a:ext cx="13564076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ExplainX redefines video understanding by moving beyond mere transcripts.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33162" y="1814751"/>
            <a:ext cx="2190036" cy="284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Beyond Transcripts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33162" y="2251591"/>
            <a:ext cx="6596182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Instead of treating videos as flat audio transcripts, ExplainX extracts and visually analyzes individual frames.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33162" y="2800112"/>
            <a:ext cx="2501027" cy="284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Visual Context Extraction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33162" y="3236952"/>
            <a:ext cx="6596182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1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YOLO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Detects crucial objects, scenes, and actions within video frames.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33162" y="3488293"/>
            <a:ext cx="6596182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1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OCR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Extracts all visible text from frames, capturing on-screen information.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33162" y="3838694"/>
            <a:ext cx="2190036" cy="284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Relevance Scoring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33162" y="4275534"/>
            <a:ext cx="6596182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frame undergoes a sophisticated scoring process to determine its information density and relevance.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33162" y="4824055"/>
            <a:ext cx="2190036" cy="284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Optimized Storage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33162" y="5260896"/>
            <a:ext cx="6596182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Only high-information frames—those rich in visual or textual context—are stored in the vector database, ensuring efficiency and accuracy.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33162" y="5828467"/>
            <a:ext cx="6596182" cy="799624"/>
          </a:xfrm>
          <a:prstGeom prst="roundRect">
            <a:avLst>
              <a:gd name="adj" fmla="val 8003"/>
            </a:avLst>
          </a:prstGeom>
          <a:solidFill>
            <a:srgbClr val="FFD1B3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443" y="6037778"/>
            <a:ext cx="190381" cy="152281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28105" y="6018728"/>
            <a:ext cx="5948958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C52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intelligent frame-scoring approach clearly differentiates ExplainX from existing tools like Google NotebookLM.</a:t>
            </a:r>
            <a:endParaRPr lang="en-US" sz="11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8677" y="1833801"/>
            <a:ext cx="6596182" cy="65961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3771" y="505778"/>
            <a:ext cx="7126367" cy="687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Multimodal Ingestion Pipeline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643771" y="1561028"/>
            <a:ext cx="13342858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streamlined process to transform diverse web content into actionable knowledge.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778" y="2007037"/>
            <a:ext cx="13232844" cy="57063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89210" y="6594523"/>
            <a:ext cx="3452400" cy="448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Unified JSON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589210" y="5273605"/>
            <a:ext cx="3452400" cy="448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Content Extract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589210" y="3966030"/>
            <a:ext cx="3452400" cy="448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Link Type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589210" y="2645111"/>
            <a:ext cx="3452400" cy="448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User Link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43771" y="7920276"/>
            <a:ext cx="13342858" cy="478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systematic ingestion ensures that all forms of content are processed and prepared for retrieval and analysis, providing a comprehensive input for the RAG system.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4830" y="630317"/>
            <a:ext cx="7574161" cy="58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5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ExplainX: The Core RAG Architecture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544830" y="1523286"/>
            <a:ext cx="13540740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Retrieval-Augmented Generation (RAG) pipeline ensures accurate, context-grounded responses.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4830" y="2056209"/>
            <a:ext cx="2531983" cy="290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7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 User Query Embedding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44830" y="2502575"/>
            <a:ext cx="7972425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user's question is converted into a vector embedding, representing its semantic meaning.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4830" y="2860477"/>
            <a:ext cx="2848808" cy="290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7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2. Vector Database Retrieval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44830" y="3306842"/>
            <a:ext cx="7972425" cy="404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embedded query is used to retrieve the top-K most relevant content chunks from our comprehensive vector database.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4830" y="3867031"/>
            <a:ext cx="2441377" cy="290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7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3. Diverse Data Inclusion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44830" y="4313396"/>
            <a:ext cx="7972425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Retrieved data can include a rich array of multimodal information: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4830" y="4655701"/>
            <a:ext cx="7972425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Website text and articles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4830" y="4912400"/>
            <a:ext cx="7972425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Video transcripts for spoken context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4830" y="5169098"/>
            <a:ext cx="7972425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OCR text from images and video frames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4830" y="5425797"/>
            <a:ext cx="7972425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 object context from YOLO analysis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4830" y="5783699"/>
            <a:ext cx="3839766" cy="290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7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4. LLM-Powered Response Generation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544830" y="6230064"/>
            <a:ext cx="7972425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Large Language Model (LLM) generates an answer, strictly adhering to the retrieved data.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4830" y="6607373"/>
            <a:ext cx="7972425" cy="816769"/>
          </a:xfrm>
          <a:prstGeom prst="roundRect">
            <a:avLst>
              <a:gd name="adj" fmla="val 8005"/>
            </a:avLst>
          </a:prstGeom>
          <a:solidFill>
            <a:srgbClr val="FFD1B3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445" y="6817995"/>
            <a:ext cx="194548" cy="15561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50608" y="6801803"/>
            <a:ext cx="7311033" cy="404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critical step prevents hallucinations and guarantees that every response is directly supported by the original content sources.</a:t>
            </a:r>
            <a:endParaRPr lang="en-US" sz="12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4684" y="2075617"/>
            <a:ext cx="5188387" cy="51883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2337" y="473154"/>
            <a:ext cx="7939326" cy="1286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38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Technology Stack Powering ExplainX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02337" y="2017633"/>
            <a:ext cx="7939326" cy="447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robust and modern technology stack ensures scalability, efficiency, and cutting-edge AI capabilities.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02337" y="2658428"/>
            <a:ext cx="7939326" cy="1321951"/>
          </a:xfrm>
          <a:prstGeom prst="roundRect">
            <a:avLst>
              <a:gd name="adj" fmla="val 5468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5197" y="2681288"/>
            <a:ext cx="688300" cy="1276231"/>
          </a:xfrm>
          <a:prstGeom prst="roundRect">
            <a:avLst>
              <a:gd name="adj" fmla="val 6516"/>
            </a:avLst>
          </a:prstGeom>
          <a:solidFill>
            <a:srgbClr val="FFFFF4"/>
          </a:solidFill>
          <a:ln/>
        </p:spPr>
      </p:sp>
      <p:sp>
        <p:nvSpPr>
          <p:cNvPr id="7" name="Text 4"/>
          <p:cNvSpPr/>
          <p:nvPr/>
        </p:nvSpPr>
        <p:spPr>
          <a:xfrm>
            <a:off x="832604" y="3151584"/>
            <a:ext cx="258128" cy="33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485543" y="2853333"/>
            <a:ext cx="2813090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9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Backend &amp; Orchestration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485543" y="3278148"/>
            <a:ext cx="6861215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Python: The core programming language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485543" y="3561874"/>
            <a:ext cx="6861215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FastAPI: High-performance web framework for APIs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02337" y="4152424"/>
            <a:ext cx="7939326" cy="1889403"/>
          </a:xfrm>
          <a:prstGeom prst="roundRect">
            <a:avLst>
              <a:gd name="adj" fmla="val 3826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5197" y="4175284"/>
            <a:ext cx="688300" cy="1843683"/>
          </a:xfrm>
          <a:prstGeom prst="roundRect">
            <a:avLst>
              <a:gd name="adj" fmla="val 6516"/>
            </a:avLst>
          </a:prstGeom>
          <a:solidFill>
            <a:srgbClr val="FFFFF4"/>
          </a:solidFill>
          <a:ln/>
        </p:spPr>
      </p:sp>
      <p:sp>
        <p:nvSpPr>
          <p:cNvPr id="13" name="Text 10"/>
          <p:cNvSpPr/>
          <p:nvPr/>
        </p:nvSpPr>
        <p:spPr>
          <a:xfrm>
            <a:off x="832604" y="4929307"/>
            <a:ext cx="258128" cy="33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485543" y="4347329"/>
            <a:ext cx="2500193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9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AI / Machine Learning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1485543" y="4772144"/>
            <a:ext cx="6861215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Faster Whisper: Efficient Speech-to-Text transcription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485543" y="5055870"/>
            <a:ext cx="6861215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YOLO: Real-time object detection for visual analysis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485543" y="5339596"/>
            <a:ext cx="6861215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OCR: Optical Character Recognition for text extraction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485543" y="5623322"/>
            <a:ext cx="6861215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LLMs: Large Language Models for advanced reasoning and generation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02337" y="6213872"/>
            <a:ext cx="7939326" cy="1545550"/>
          </a:xfrm>
          <a:prstGeom prst="roundRect">
            <a:avLst>
              <a:gd name="adj" fmla="val 4677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5197" y="6236732"/>
            <a:ext cx="688300" cy="1499830"/>
          </a:xfrm>
          <a:prstGeom prst="roundRect">
            <a:avLst>
              <a:gd name="adj" fmla="val 6516"/>
            </a:avLst>
          </a:prstGeom>
          <a:solidFill>
            <a:srgbClr val="FFFFF4"/>
          </a:solidFill>
          <a:ln/>
        </p:spPr>
      </p:sp>
      <p:sp>
        <p:nvSpPr>
          <p:cNvPr id="21" name="Text 18"/>
          <p:cNvSpPr/>
          <p:nvPr/>
        </p:nvSpPr>
        <p:spPr>
          <a:xfrm>
            <a:off x="832604" y="6818828"/>
            <a:ext cx="258128" cy="33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485543" y="6408777"/>
            <a:ext cx="2473881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9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 Management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1485543" y="6833592"/>
            <a:ext cx="6861215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Vector Database: Chroma / FAISS / Langbase for semantic indexing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1485543" y="7117318"/>
            <a:ext cx="6861215" cy="447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Embedding Models: State-of-the-art models for creating vector representations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2713" y="591383"/>
            <a:ext cx="9461302" cy="803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48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ExplainX: End-to-End System Flow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752713" y="1825109"/>
            <a:ext cx="13124974" cy="279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user input to an intelligent answer, witness the seamless journey of content processing.</a:t>
            </a:r>
            <a:endParaRPr lang="en-US" sz="1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58" y="2346484"/>
            <a:ext cx="12704564" cy="4767263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12627" y="3560791"/>
            <a:ext cx="656233" cy="65623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227965" y="5699699"/>
            <a:ext cx="1916199" cy="882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Vector Embedding</a:t>
            </a:r>
            <a:endParaRPr lang="en-US" sz="1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10201" y="3562021"/>
            <a:ext cx="656233" cy="65623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13030" y="5699699"/>
            <a:ext cx="1916198" cy="882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Frame Scoring</a:t>
            </a:r>
            <a:endParaRPr lang="en-US" sz="15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08391" y="3562021"/>
            <a:ext cx="656233" cy="65623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11220" y="5699699"/>
            <a:ext cx="1916198" cy="882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Multimodal Extraction</a:t>
            </a:r>
            <a:endParaRPr lang="en-US" sz="15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06581" y="3562021"/>
            <a:ext cx="656232" cy="65623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009409" y="5920357"/>
            <a:ext cx="1916199" cy="441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Upload Link</a:t>
            </a:r>
            <a:endParaRPr lang="en-US" sz="15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91646" y="3562021"/>
            <a:ext cx="656233" cy="656232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555100" y="5920357"/>
            <a:ext cx="1916198" cy="441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User</a:t>
            </a:r>
            <a:endParaRPr lang="en-US" sz="1550" dirty="0"/>
          </a:p>
        </p:txBody>
      </p:sp>
      <p:sp>
        <p:nvSpPr>
          <p:cNvPr id="15" name="Text 7"/>
          <p:cNvSpPr/>
          <p:nvPr/>
        </p:nvSpPr>
        <p:spPr>
          <a:xfrm>
            <a:off x="752713" y="7355681"/>
            <a:ext cx="13124974" cy="558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comprehensive pipeline ensures that every piece of information is meticulously processed, analyzed, and leveraged to provide the most accurate and contextually relevant responses.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59805" y="772120"/>
            <a:ext cx="7709059" cy="612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7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Advantages, Use Cases &amp; Conclusion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059805" y="1630085"/>
            <a:ext cx="22860" cy="4112181"/>
          </a:xfrm>
          <a:prstGeom prst="roundRect">
            <a:avLst>
              <a:gd name="adj" fmla="val 301020"/>
            </a:avLst>
          </a:prstGeom>
          <a:solidFill>
            <a:srgbClr val="FFE0CC"/>
          </a:solidFill>
          <a:ln/>
        </p:spPr>
      </p:sp>
      <p:sp>
        <p:nvSpPr>
          <p:cNvPr id="5" name="Shape 2"/>
          <p:cNvSpPr/>
          <p:nvPr/>
        </p:nvSpPr>
        <p:spPr>
          <a:xfrm>
            <a:off x="6082665" y="1630085"/>
            <a:ext cx="7997190" cy="1998702"/>
          </a:xfrm>
          <a:prstGeom prst="rect">
            <a:avLst/>
          </a:prstGeom>
          <a:solidFill>
            <a:srgbClr val="FFFFF4"/>
          </a:solidFill>
          <a:ln w="15240">
            <a:solidFill>
              <a:srgbClr val="FFE0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46495" y="1809155"/>
            <a:ext cx="2355175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Key Advantages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246495" y="2213491"/>
            <a:ext cx="7654290" cy="42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True Multimodal Understanding:</a:t>
            </a:r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Processes web, video, image, and audio like never before.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246495" y="2696527"/>
            <a:ext cx="7654290" cy="212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Frame-Aware Video Explanations:</a:t>
            </a:r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Deep visual context from intelligently scored frames.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246495" y="2966680"/>
            <a:ext cx="7654290" cy="212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Dynamic Website Capability:</a:t>
            </a:r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Works seamlessly across complex and interactive websites.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246495" y="3236833"/>
            <a:ext cx="7654290" cy="212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Scalable RAG Architecture:</a:t>
            </a:r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Built for efficiency and future extensibility.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082665" y="3956447"/>
            <a:ext cx="7997190" cy="1785818"/>
          </a:xfrm>
          <a:prstGeom prst="rect">
            <a:avLst/>
          </a:prstGeom>
          <a:solidFill>
            <a:srgbClr val="FFFFF4"/>
          </a:solidFill>
          <a:ln w="15240">
            <a:solidFill>
              <a:srgbClr val="FFE0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46495" y="4135517"/>
            <a:ext cx="2668191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Transformative Use Cases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6246495" y="4539853"/>
            <a:ext cx="7654290" cy="212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Education:</a:t>
            </a:r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Enhance learning with deep explanations of multimedia content.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246495" y="4810006"/>
            <a:ext cx="7654290" cy="212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Research:</a:t>
            </a:r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Accelerate information gathering and analysis from diverse sources.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246495" y="5080159"/>
            <a:ext cx="7654290" cy="212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 Documentation:</a:t>
            </a:r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Instantly grasp complex concepts across formats.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246495" y="5350312"/>
            <a:ext cx="7654290" cy="212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 Analysis:</a:t>
            </a:r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Extract granular insights from video and image content.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059805" y="5988010"/>
            <a:ext cx="7997190" cy="1469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29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Conclusion: ExplainX is a </a:t>
            </a:r>
            <a:pPr algn="l" indent="0" marL="0">
              <a:lnSpc>
                <a:spcPts val="3850"/>
              </a:lnSpc>
              <a:buNone/>
            </a:pPr>
            <a:r>
              <a:rPr lang="en-US" sz="2950" dirty="0">
                <a:solidFill>
                  <a:srgbClr val="FF95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next-generation multimodal RAG system</a:t>
            </a:r>
            <a:pPr algn="l" indent="0" marL="0">
              <a:lnSpc>
                <a:spcPts val="3850"/>
              </a:lnSpc>
              <a:buNone/>
            </a:pPr>
            <a:r>
              <a:rPr lang="en-US" sz="29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that understands content the way humans do.</a:t>
            </a:r>
            <a:endParaRPr lang="en-US" sz="2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2025-12-19T03:37:24Z</dcterms:created>
  <dcterms:modified xsi:type="dcterms:W3CDTF">2025-12-19T03:37:24Z</dcterms:modified>
</cp:coreProperties>
</file>